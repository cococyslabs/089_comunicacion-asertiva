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10287000" cx="18288000"/>
  <p:notesSz cx="6858000" cy="9144000"/>
  <p:embeddedFontLst>
    <p:embeddedFont>
      <p:font typeface="Caveat"/>
      <p:regular r:id="rId16"/>
      <p:bold r:id="rId17"/>
    </p:embeddedFont>
    <p:embeddedFont>
      <p:font typeface="Pacifico"/>
      <p:regular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i6eshYTH12jCL5WjHNln4liwfR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BAE8C50-203B-4622-BF66-D6FBA58996C5}">
  <a:tblStyle styleId="{ABAE8C50-203B-4622-BF66-D6FBA58996C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5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4.xml"/><Relationship Id="rId21" Type="http://schemas.openxmlformats.org/officeDocument/2006/relationships/font" Target="fonts/Open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Caveat-bold.fntdata"/><Relationship Id="rId16" Type="http://schemas.openxmlformats.org/officeDocument/2006/relationships/font" Target="fonts/Caveat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OpenSans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acific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2a0e1ae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e2a0e1aed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27531c99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927531c993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27531c99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g3927531c993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4afea4f63_0_1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64afea4f6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85e2d797db_0_6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7" name="Google Shape;17;g385e2d797db_0_67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8" name="Google Shape;18;g385e2d797db_0_6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5.jpg"/><Relationship Id="rId7" Type="http://schemas.openxmlformats.org/officeDocument/2006/relationships/image" Target="../media/image10.jpg"/><Relationship Id="rId8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2a0e1aed6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g3e2a0e1aed6_0_0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g3e2a0e1aed6_0_0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g3e2a0e1aed6_0_0"/>
          <p:cNvSpPr txBox="1"/>
          <p:nvPr/>
        </p:nvSpPr>
        <p:spPr>
          <a:xfrm>
            <a:off x="348675" y="9201150"/>
            <a:ext cx="78792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i="0" lang="en-US" sz="314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Kevin Josue Santos Salazar</a:t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g3e2a0e1aed6_0_0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Comunicación Asertiva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93" name="Google Shape;93;g3e2a0e1aed6_0_0"/>
          <p:cNvGraphicFramePr/>
          <p:nvPr/>
        </p:nvGraphicFramePr>
        <p:xfrm>
          <a:off x="11484975" y="2361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{ABAE8C50-203B-4622-BF66-D6FBA58996C5}</a:tableStyleId>
              </a:tblPr>
              <a:tblGrid>
                <a:gridCol w="2303175"/>
                <a:gridCol w="2303175"/>
              </a:tblGrid>
              <a:tr h="691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Fecha</a:t>
                      </a:r>
                      <a:endParaRPr b="1" sz="2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/>
                        <a:t>18</a:t>
                      </a:r>
                      <a:r>
                        <a:rPr lang="en-US" sz="2600" u="none" cap="none" strike="noStrike"/>
                        <a:t>/0</a:t>
                      </a:r>
                      <a:r>
                        <a:rPr lang="en-US" sz="2600"/>
                        <a:t>7</a:t>
                      </a:r>
                      <a:r>
                        <a:rPr lang="en-US" sz="2600" u="none" cap="none" strike="noStrike"/>
                        <a:t>/2026</a:t>
                      </a:r>
                      <a:endParaRPr sz="26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/>
          <p:nvPr/>
        </p:nvSpPr>
        <p:spPr>
          <a:xfrm>
            <a:off x="12541309" y="6021878"/>
            <a:ext cx="4160184" cy="4114800"/>
          </a:xfrm>
          <a:custGeom>
            <a:rect b="b" l="l" r="r" t="t"/>
            <a:pathLst>
              <a:path extrusionOk="0"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"/>
          <p:cNvSpPr txBox="1"/>
          <p:nvPr/>
        </p:nvSpPr>
        <p:spPr>
          <a:xfrm>
            <a:off x="890249" y="7555025"/>
            <a:ext cx="8526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Comunicación Asertiva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600180" y="1909124"/>
            <a:ext cx="12375000" cy="3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Semana de </a:t>
            </a:r>
            <a:endParaRPr b="1" i="0" sz="92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Diagnóstico</a:t>
            </a:r>
            <a:endParaRPr b="1" i="0" sz="92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12817425" y="6823525"/>
            <a:ext cx="3524100" cy="29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“</a:t>
            </a:r>
            <a:r>
              <a:rPr b="0" i="0" lang="en-US" sz="2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vida es como montar en bicicleta. Para mantener el equilibrio tienes que avanzar</a:t>
            </a:r>
            <a:r>
              <a:rPr b="0" i="0" lang="en-US" sz="24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”</a:t>
            </a:r>
            <a:endParaRPr b="0" i="0" sz="24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5" name="Google Shape;10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2"/>
          <p:cNvGrpSpPr/>
          <p:nvPr/>
        </p:nvGrpSpPr>
        <p:grpSpPr>
          <a:xfrm>
            <a:off x="1650328" y="4810437"/>
            <a:ext cx="7186060" cy="1121508"/>
            <a:chOff x="0" y="-32924"/>
            <a:chExt cx="2306699" cy="360000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456899" y="-32924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375" lIns="67375" spcFirstLastPara="1" rIns="67375" wrap="square" tIns="67375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12"/>
                <a:buFont typeface="Arial"/>
                <a:buNone/>
              </a:pPr>
              <a:r>
                <a:rPr b="0" i="0" lang="en-US" sz="37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Personal</a:t>
              </a:r>
              <a:endParaRPr b="0" i="0" sz="18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2581449" y="4967359"/>
            <a:ext cx="601833" cy="730250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2"/>
          <p:cNvSpPr txBox="1"/>
          <p:nvPr/>
        </p:nvSpPr>
        <p:spPr>
          <a:xfrm>
            <a:off x="4648974" y="285175"/>
            <a:ext cx="7710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grpSp>
        <p:nvGrpSpPr>
          <p:cNvPr id="115" name="Google Shape;115;p2"/>
          <p:cNvGrpSpPr/>
          <p:nvPr/>
        </p:nvGrpSpPr>
        <p:grpSpPr>
          <a:xfrm>
            <a:off x="1650328" y="6007647"/>
            <a:ext cx="6693807" cy="1121508"/>
            <a:chOff x="0" y="-41934"/>
            <a:chExt cx="2148688" cy="360000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7" name="Google Shape;117;p2"/>
            <p:cNvSpPr txBox="1"/>
            <p:nvPr/>
          </p:nvSpPr>
          <p:spPr>
            <a:xfrm>
              <a:off x="298888" y="-41934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375" lIns="67375" spcFirstLastPara="1" rIns="67375" wrap="square" tIns="67375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12"/>
                <a:buFont typeface="Arial"/>
                <a:buNone/>
              </a:pPr>
              <a:r>
                <a:rPr b="0" i="0" lang="en-US" sz="37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Medios Oficiales</a:t>
              </a:r>
              <a:endParaRPr b="0" i="0" sz="18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2128531" y="7204850"/>
            <a:ext cx="10477280" cy="1318706"/>
            <a:chOff x="0" y="-76199"/>
            <a:chExt cx="3363169" cy="423300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0" name="Google Shape;120;p2"/>
            <p:cNvSpPr txBox="1"/>
            <p:nvPr/>
          </p:nvSpPr>
          <p:spPr>
            <a:xfrm>
              <a:off x="338569" y="-76199"/>
              <a:ext cx="3024600" cy="42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375" lIns="67375" spcFirstLastPara="1" rIns="67375" wrap="square" tIns="67375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12"/>
                <a:buFont typeface="Arial"/>
                <a:buNone/>
              </a:pPr>
              <a:r>
                <a:rPr b="0" i="0" lang="en-US" sz="37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Dinámica de Presentación de Estudiantes</a:t>
              </a:r>
              <a:endParaRPr b="0" i="0" sz="18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2"/>
          <p:cNvSpPr/>
          <p:nvPr/>
        </p:nvSpPr>
        <p:spPr>
          <a:xfrm>
            <a:off x="2581449" y="6138284"/>
            <a:ext cx="601833" cy="730250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2"/>
          <p:cNvSpPr/>
          <p:nvPr/>
        </p:nvSpPr>
        <p:spPr>
          <a:xfrm>
            <a:off x="2581449" y="7440161"/>
            <a:ext cx="601833" cy="730250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2"/>
          <p:cNvSpPr txBox="1"/>
          <p:nvPr/>
        </p:nvSpPr>
        <p:spPr>
          <a:xfrm>
            <a:off x="487100" y="3017525"/>
            <a:ext cx="4436100" cy="17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375" lIns="67375" spcFirstLastPara="1" rIns="67375" wrap="square" tIns="67375">
            <a:noAutofit/>
          </a:bodyPr>
          <a:lstStyle/>
          <a:p>
            <a:pPr indent="0" lvl="0" marL="0" marR="0" rtl="0" algn="ctr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12"/>
              <a:buFont typeface="Arial"/>
              <a:buNone/>
            </a:pPr>
            <a:r>
              <a:rPr b="1" i="1" lang="en-US" sz="5436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CONTENIDO</a:t>
            </a:r>
            <a:endParaRPr b="1" i="1" sz="3581" u="none" cap="none" strike="noStrik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grpSp>
        <p:nvGrpSpPr>
          <p:cNvPr id="124" name="Google Shape;124;p2"/>
          <p:cNvGrpSpPr/>
          <p:nvPr/>
        </p:nvGrpSpPr>
        <p:grpSpPr>
          <a:xfrm>
            <a:off x="2434628" y="8599250"/>
            <a:ext cx="7779271" cy="1121508"/>
            <a:chOff x="0" y="-41933"/>
            <a:chExt cx="2497118" cy="360000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57218" y="-41933"/>
              <a:ext cx="24399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375" lIns="67375" spcFirstLastPara="1" rIns="67375" wrap="square" tIns="67375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12"/>
                <a:buFont typeface="Arial"/>
                <a:buNone/>
              </a:pPr>
              <a:r>
                <a:rPr b="0" i="0" lang="en-US" sz="37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Programa del Laboratorio</a:t>
              </a:r>
              <a:endParaRPr b="0" i="0" sz="18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2"/>
          <p:cNvSpPr/>
          <p:nvPr/>
        </p:nvSpPr>
        <p:spPr>
          <a:xfrm>
            <a:off x="2581449" y="8742034"/>
            <a:ext cx="601833" cy="730250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8" name="Google Shape;128;p2"/>
          <p:cNvGrpSpPr/>
          <p:nvPr/>
        </p:nvGrpSpPr>
        <p:grpSpPr>
          <a:xfrm>
            <a:off x="10723028" y="4810437"/>
            <a:ext cx="7186060" cy="1121508"/>
            <a:chOff x="0" y="-32924"/>
            <a:chExt cx="2306699" cy="360000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0" name="Google Shape;130;p2"/>
            <p:cNvSpPr txBox="1"/>
            <p:nvPr/>
          </p:nvSpPr>
          <p:spPr>
            <a:xfrm>
              <a:off x="456899" y="-32924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375" lIns="67375" spcFirstLastPara="1" rIns="67375" wrap="square" tIns="67375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12"/>
                <a:buFont typeface="Arial"/>
                <a:buNone/>
              </a:pPr>
              <a:r>
                <a:rPr b="0" i="0" lang="en-US" sz="37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Prueba de Diagnóstico</a:t>
              </a:r>
              <a:endParaRPr b="0" i="0" sz="18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2"/>
          <p:cNvSpPr/>
          <p:nvPr/>
        </p:nvSpPr>
        <p:spPr>
          <a:xfrm>
            <a:off x="11654149" y="4967359"/>
            <a:ext cx="601833" cy="730250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PRESENTACIÓN PERSONAL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14956950" y="0"/>
            <a:ext cx="3331057" cy="2676959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3"/>
          <p:cNvSpPr txBox="1"/>
          <p:nvPr/>
        </p:nvSpPr>
        <p:spPr>
          <a:xfrm>
            <a:off x="15464425" y="272925"/>
            <a:ext cx="2160300" cy="22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Armar cubos rubik es uno de mis pasatiempos favoritos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3" title="Gemini_Generated_Image_sfb0qdsfb0qdsfb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" y="5542496"/>
            <a:ext cx="3428400" cy="4698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3" title="Gemini_Generated_Image_k3gbyrk3gbyrk3gb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95775" y="7612725"/>
            <a:ext cx="4292224" cy="267426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"/>
          <p:cNvSpPr/>
          <p:nvPr/>
        </p:nvSpPr>
        <p:spPr>
          <a:xfrm>
            <a:off x="4265375" y="2751900"/>
            <a:ext cx="7887900" cy="61098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4820175" y="2751900"/>
            <a:ext cx="7333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Kevin Josue Santos Salazar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ad the letter icon vector. Isolated contour symbol illustration (proporcionado por Getty Images)" id="143" name="Google Shape;14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90773" y="6627777"/>
            <a:ext cx="465152" cy="465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58250" y="3512250"/>
            <a:ext cx="2305200" cy="2527800"/>
          </a:xfrm>
          <a:prstGeom prst="ellipse">
            <a:avLst/>
          </a:prstGeom>
          <a:solidFill>
            <a:srgbClr val="A4C2F4"/>
          </a:solidFill>
          <a:ln>
            <a:noFill/>
          </a:ln>
        </p:spPr>
      </p:pic>
      <p:pic>
        <p:nvPicPr>
          <p:cNvPr descr="phone (proporcionado por Getty Images)" id="145" name="Google Shape;145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0776" y="8014950"/>
            <a:ext cx="465152" cy="46515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"/>
          <p:cNvSpPr txBox="1"/>
          <p:nvPr/>
        </p:nvSpPr>
        <p:spPr>
          <a:xfrm>
            <a:off x="6355925" y="6637150"/>
            <a:ext cx="4798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3050179770117@ingenieria.usac.edu.gt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ad the letter icon vector. Isolated contour symbol illustration (proporcionado por Getty Images)" id="147" name="Google Shape;14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90773" y="7316677"/>
            <a:ext cx="465152" cy="46515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"/>
          <p:cNvSpPr txBox="1"/>
          <p:nvPr/>
        </p:nvSpPr>
        <p:spPr>
          <a:xfrm>
            <a:off x="6355925" y="7326050"/>
            <a:ext cx="4518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kevinjosue.santos@gmail.com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 txBox="1"/>
          <p:nvPr/>
        </p:nvSpPr>
        <p:spPr>
          <a:xfrm>
            <a:off x="6495575" y="8014950"/>
            <a:ext cx="4518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5012-1328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/>
          <p:cNvSpPr txBox="1"/>
          <p:nvPr/>
        </p:nvSpPr>
        <p:spPr>
          <a:xfrm>
            <a:off x="1197782" y="2191600"/>
            <a:ext cx="6150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2724352" y="685775"/>
            <a:ext cx="57993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4725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MEDIOS OFICIALES</a:t>
            </a:r>
            <a:endParaRPr b="0" i="0" sz="4725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56" name="Google Shape;156;p4" title="Gemini_Generated_Image_u2i06ou2i06ou2i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920172"/>
            <a:ext cx="3273674" cy="4486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5699" y="6953241"/>
            <a:ext cx="5715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4"/>
          <p:cNvSpPr txBox="1"/>
          <p:nvPr/>
        </p:nvSpPr>
        <p:spPr>
          <a:xfrm>
            <a:off x="1157625" y="2191634"/>
            <a:ext cx="3096900" cy="25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7286" lvl="0" marL="4572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499"/>
              <a:buFont typeface="Open Sans"/>
              <a:buChar char="●"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UEDi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7286" lvl="0" marL="4572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499"/>
              <a:buFont typeface="Open Sans"/>
              <a:buChar char="●"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DTT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7286" lvl="0" marL="4572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499"/>
              <a:buFont typeface="Open Sans"/>
              <a:buChar char="●"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Contacto Correo Electrónico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t/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9" name="Google Shape;15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57600" y="0"/>
            <a:ext cx="8030400" cy="3333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38575" y="3577650"/>
            <a:ext cx="6972300" cy="234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27531c993_0_27"/>
          <p:cNvSpPr/>
          <p:nvPr/>
        </p:nvSpPr>
        <p:spPr>
          <a:xfrm>
            <a:off x="1564400" y="1556400"/>
            <a:ext cx="8665200" cy="28311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1) Nombre </a:t>
            </a:r>
            <a:endParaRPr b="0" i="0" sz="3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2) Expectativas </a:t>
            </a:r>
            <a:endParaRPr b="0" i="0" sz="3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3) Experiencia previa (si aplica) </a:t>
            </a:r>
            <a:endParaRPr b="0" i="0" sz="3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4) Un dato curioso </a:t>
            </a:r>
            <a:endParaRPr b="0" i="0" sz="3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" name="Google Shape;166;g3927531c993_0_27"/>
          <p:cNvSpPr txBox="1"/>
          <p:nvPr/>
        </p:nvSpPr>
        <p:spPr>
          <a:xfrm>
            <a:off x="702500" y="0"/>
            <a:ext cx="8665200" cy="15564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4699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Dinámica de Presentación de </a:t>
            </a:r>
            <a:endParaRPr b="1" i="0" sz="4699" u="none" cap="none" strike="noStrik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marR="0" rtl="0" algn="ctr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4699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Estudiantes</a:t>
            </a:r>
            <a:endParaRPr b="1" i="0" sz="4699" u="none" cap="none" strike="noStrik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67" name="Google Shape;167;g3927531c993_0_27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72004" y="6414125"/>
            <a:ext cx="6216000" cy="387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927531c993_0_27" title="Gemini_Generated_Image_u2i06ou2i06ou2i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942122"/>
            <a:ext cx="3273674" cy="448614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927531c993_0_27"/>
          <p:cNvSpPr/>
          <p:nvPr/>
        </p:nvSpPr>
        <p:spPr>
          <a:xfrm>
            <a:off x="14956950" y="0"/>
            <a:ext cx="3331057" cy="2676959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g3927531c993_0_27"/>
          <p:cNvSpPr txBox="1"/>
          <p:nvPr/>
        </p:nvSpPr>
        <p:spPr>
          <a:xfrm>
            <a:off x="15464425" y="272925"/>
            <a:ext cx="2160300" cy="22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¿Te parece interesante ser parte de la 1ra Generación del curso?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27531c993_0_35"/>
          <p:cNvSpPr txBox="1"/>
          <p:nvPr/>
        </p:nvSpPr>
        <p:spPr>
          <a:xfrm>
            <a:off x="254614" y="190939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Prueba Diagnóstica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6" name="Google Shape;176;g3927531c993_0_35"/>
          <p:cNvSpPr txBox="1"/>
          <p:nvPr/>
        </p:nvSpPr>
        <p:spPr>
          <a:xfrm>
            <a:off x="4463150" y="3090625"/>
            <a:ext cx="11447400" cy="2448300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PIN Kahoot: 613 - 7564</a:t>
            </a:r>
            <a:endParaRPr b="1" i="0" sz="4800" u="none" cap="none" strike="noStrik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77" name="Google Shape;177;g3927531c993_0_35"/>
          <p:cNvPicPr preferRelativeResize="0"/>
          <p:nvPr/>
        </p:nvPicPr>
        <p:blipFill rotWithShape="1">
          <a:blip r:embed="rId3">
            <a:alphaModFix/>
          </a:blip>
          <a:srcRect b="0" l="0" r="6560" t="0"/>
          <a:stretch/>
        </p:blipFill>
        <p:spPr>
          <a:xfrm>
            <a:off x="1624325" y="2993675"/>
            <a:ext cx="2427982" cy="244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4afea4f63_0_141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g364afea4f63_0_141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 txBox="1"/>
          <p:nvPr/>
        </p:nvSpPr>
        <p:spPr>
          <a:xfrm>
            <a:off x="4571995" y="517605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7765363" y="5966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